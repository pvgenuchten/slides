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webp" ContentType="image/webp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isis.isric.org" TargetMode="External" /><Relationship Id="rId3" Type="http://schemas.openxmlformats.org/officeDocument/2006/relationships/hyperlink" Target="https://www.isric.org/explore/soilgrids" TargetMode="External" /><Relationship Id="rId4" Type="http://schemas.openxmlformats.org/officeDocument/2006/relationships/hyperlink" Target="https://resources.isric.org" TargetMode="External" /><Relationship Id="rId5" Type="http://schemas.openxmlformats.org/officeDocument/2006/relationships/hyperlink" Target="https://www.isric.org/projects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hyperlink" Target="https://tinker.nl/en/work/world-soil-museum" TargetMode="External" /><Relationship Id="rId2" Type="http://schemas.openxmlformats.org/officeDocument/2006/relationships/image" Target="../media/image1.webp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jp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pygeometa.org" TargetMode="External" /><Relationship Id="rId3" Type="http://schemas.openxmlformats.org/officeDocument/2006/relationships/hyperlink" Target="https://pypi.org/project/geodatacrawler/" TargetMode="External" /><Relationship Id="rId4" Type="http://schemas.openxmlformats.org/officeDocument/2006/relationships/hyperlink" Target="https://osgeo.github.io/mdme" TargetMode="External" /><Relationship Id="rId5" Type="http://schemas.openxmlformats.org/officeDocument/2006/relationships/hyperlink" Target="https://catalogue.ejpsoil.eu" TargetMode="Externa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(Meta)Data management at ISRIC - World Soil Information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Discovery &amp; Metadata Expert Group with the Digital Research Alliance of Canada</a:t>
            </a:r>
            <a:br/>
            <a:br/>
            <a:r>
              <a:rPr/>
              <a:t>Paul van Genuchten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2026-03-24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ISRIC - World Soil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Foundation funded by Dutch Government on promoting soil awareness and advancing the use of soil information to help build a more sustainable future.</a:t>
            </a:r>
          </a:p>
          <a:p>
            <a:pPr lvl="0"/>
            <a:r>
              <a:rPr/>
              <a:t>Maintain a global collection of reference soil samples (</a:t>
            </a:r>
            <a:r>
              <a:rPr>
                <a:hlinkClick r:id="rId2"/>
              </a:rPr>
              <a:t>ISIS</a:t>
            </a:r>
            <a:r>
              <a:rPr/>
              <a:t>)</a:t>
            </a:r>
          </a:p>
          <a:p>
            <a:pPr lvl="0"/>
            <a:r>
              <a:rPr/>
              <a:t>Globally predict the distribution of soil properties (</a:t>
            </a:r>
            <a:r>
              <a:rPr>
                <a:hlinkClick r:id="rId3"/>
              </a:rPr>
              <a:t>Soilgrids</a:t>
            </a:r>
            <a:r>
              <a:rPr/>
              <a:t>)</a:t>
            </a:r>
          </a:p>
          <a:p>
            <a:pPr lvl="0"/>
            <a:r>
              <a:rPr/>
              <a:t>Capacity building on soil data management at soil institutes around the globe (</a:t>
            </a:r>
            <a:r>
              <a:rPr>
                <a:hlinkClick r:id="rId4"/>
              </a:rPr>
              <a:t>Academy</a:t>
            </a:r>
            <a:r>
              <a:rPr/>
              <a:t>)</a:t>
            </a:r>
          </a:p>
          <a:p>
            <a:pPr lvl="0"/>
            <a:r>
              <a:rPr/>
              <a:t>Participate in </a:t>
            </a:r>
            <a:r>
              <a:rPr>
                <a:hlinkClick r:id="rId5"/>
              </a:rPr>
              <a:t>research projects</a:t>
            </a:r>
            <a:r>
              <a:rPr/>
              <a:t> to innovate the soil sciences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World Soil Museum</a:t>
            </a:r>
          </a:p>
        </p:txBody>
      </p:sp>
      <p:pic>
        <p:nvPicPr>
          <p:cNvPr descr="https://tinker.nl/img/cache/media_6828_widen_3840-upscale_90-2349_world-soil-museum01_0.webp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00300" y="1193800"/>
            <a:ext cx="4330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World Soil Museum by </a:t>
            </a:r>
            <a:r>
              <a:rPr>
                <a:hlinkClick r:id="rId3"/>
              </a:rPr>
              <a:t>tinker.nl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Collection of reference profiles</a:t>
            </a:r>
          </a:p>
        </p:txBody>
      </p:sp>
      <p:pic>
        <p:nvPicPr>
          <p:cNvPr descr="https://isric.euwest01.umbraco.io//media/dpbdg2ib/color-pot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25700" y="1193800"/>
            <a:ext cx="4279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Samples of reference profiles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(meta)data flows at isric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Museum exhibits and collection management</a:t>
            </a:r>
          </a:p>
          <a:p>
            <a:pPr lvl="0"/>
            <a:r>
              <a:rPr/>
              <a:t>Participation in research projects (consortia)</a:t>
            </a:r>
          </a:p>
          <a:p>
            <a:pPr lvl="0"/>
            <a:r>
              <a:rPr/>
              <a:t>Global soil products</a:t>
            </a:r>
          </a:p>
          <a:p>
            <a:pPr lvl="0"/>
            <a:r>
              <a:rPr/>
              <a:t>Capacity building at national soil insititutes</a:t>
            </a:r>
          </a:p>
          <a:p>
            <a:pPr lvl="0"/>
            <a:r>
              <a:rPr/>
              <a:t>Meta studies on availability of works about a topic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ISRIC &amp; academia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Foundation embedded in Wageningen University</a:t>
            </a:r>
          </a:p>
          <a:p>
            <a:pPr lvl="0"/>
            <a:r>
              <a:rPr/>
              <a:t>Advance the soil sciences through research activities</a:t>
            </a:r>
          </a:p>
          <a:p>
            <a:pPr lvl="0"/>
            <a:r>
              <a:rPr/>
              <a:t>Research deliverables are advertised in the academic domain through Citations and DOI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ISRIC &amp; Open GeoSpatial Consortium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Spatial distribution of soils explains our interest in spatial standards</a:t>
            </a:r>
          </a:p>
          <a:p>
            <a:pPr lvl="0"/>
            <a:r>
              <a:rPr/>
              <a:t>Standardised formats and protocols facilitate long term access to data</a:t>
            </a:r>
          </a:p>
          <a:p>
            <a:pPr lvl="0"/>
            <a:r>
              <a:rPr/>
              <a:t>National soil institutes are exchanging soil data through OGC protocols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ISRIC &amp; Open Source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Tracability of research outputs is facilitated by Open Source Software</a:t>
            </a:r>
          </a:p>
          <a:p>
            <a:pPr lvl="0"/>
            <a:r>
              <a:rPr/>
              <a:t>OSGeo tools are commonly OGC compliant, many innovations at OGC are driven by open source software</a:t>
            </a:r>
          </a:p>
          <a:p>
            <a:pPr lvl="0"/>
            <a:r>
              <a:rPr/>
              <a:t>Open formats enable future backwards compatibility for today’s datasets</a:t>
            </a:r>
          </a:p>
          <a:p>
            <a:pPr lvl="0"/>
            <a:r>
              <a:rPr/>
              <a:t>Sustainability of contributions to Open Source Software</a:t>
            </a:r>
          </a:p>
          <a:p>
            <a:pPr lvl="0"/>
            <a:r>
              <a:rPr/>
              <a:t>Open Source software is often cost effective</a:t>
            </a:r>
          </a:p>
          <a:p>
            <a:pPr lvl="0"/>
            <a:r>
              <a:rPr/>
              <a:t>R - GDAL - GRASS - QGIS - Mapserver - pycsw - TerriaJS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Creation of Soil Maps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Soil Property Distribution is predicted by a random forest model on sampling data and covariates (geology, hydrology, satelite imagery)</a:t>
            </a:r>
          </a:p>
          <a:p>
            <a:pPr lvl="0"/>
            <a:r>
              <a:rPr/>
              <a:t>Data is organised and produced in folders on a shared file system</a:t>
            </a:r>
          </a:p>
          <a:p>
            <a:pPr lvl="0"/>
            <a:r>
              <a:rPr/>
              <a:t>Effective metadata management is crucial for reproducability (and attribution)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Embedded metadata or Sidecar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Metadata is automatically embedded in model outputs</a:t>
            </a:r>
          </a:p>
          <a:p>
            <a:pPr lvl="0"/>
            <a:r>
              <a:rPr/>
              <a:t>Or a sidecar metadata file is placed alongside a data file (readme.txt)</a:t>
            </a:r>
          </a:p>
          <a:p>
            <a:pPr lvl="0"/>
            <a:r>
              <a:rPr/>
              <a:t>Which model to adopt?</a:t>
            </a:r>
          </a:p>
          <a:p>
            <a:pPr lvl="1"/>
            <a:r>
              <a:rPr/>
              <a:t>Facilitated by the format (MS Excel, GeoTiff, GeoPackage)</a:t>
            </a:r>
          </a:p>
          <a:p>
            <a:pPr lvl="1"/>
            <a:r>
              <a:rPr/>
              <a:t>Common in the community (iso19115, DCAT, Datacite, schema.org)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set of tools to work with sidecar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pygeometa</a:t>
            </a:r>
            <a:r>
              <a:rPr/>
              <a:t> converts sidecar files between models (mcf, iso, dcat, schema.org)</a:t>
            </a:r>
          </a:p>
          <a:p>
            <a:pPr lvl="0"/>
            <a:r>
              <a:rPr>
                <a:hlinkClick r:id="rId3"/>
              </a:rPr>
              <a:t>geodatacrawler</a:t>
            </a:r>
            <a:r>
              <a:rPr/>
              <a:t> crawls a (network) drive for sidecar files, as input for a catalogue</a:t>
            </a:r>
          </a:p>
          <a:p>
            <a:pPr lvl="0"/>
            <a:r>
              <a:rPr>
                <a:hlinkClick r:id="rId4"/>
              </a:rPr>
              <a:t>MDME</a:t>
            </a:r>
            <a:r>
              <a:rPr/>
              <a:t> provides user friendly model driven metadata editing</a:t>
            </a:r>
          </a:p>
          <a:p>
            <a:pPr lvl="0"/>
            <a:r>
              <a:rPr>
                <a:hlinkClick r:id="rId5"/>
              </a:rPr>
              <a:t>Git</a:t>
            </a:r>
            <a:r>
              <a:rPr/>
              <a:t> as a storage for sidecar files facilitates rich history and remote contributions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model metadata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 soil sciences, a lot of observation data is collected</a:t>
            </a:r>
          </a:p>
          <a:p>
            <a:pPr lvl="0"/>
            <a:r>
              <a:rPr/>
              <a:t>Observation data is 75% metadata and 25% data (where, what, when, who, how)</a:t>
            </a:r>
          </a:p>
          <a:p>
            <a:pPr lvl="0"/>
            <a:r>
              <a:rPr/>
              <a:t>Soil institutes are endorsed to capture metadata as part of dataset metadata</a:t>
            </a:r>
          </a:p>
          <a:p>
            <a:pPr lvl="0"/>
            <a:r>
              <a:rPr/>
              <a:t>The data model metadata is important information when harmonizing multiple datasets</a:t>
            </a:r>
          </a:p>
          <a:p>
            <a:pPr lvl="0"/>
            <a:r>
              <a:rPr/>
              <a:t>But also to filter datasets by measured property in a catalogue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CSVW approach for observation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 the Soilwise project we’re experimenting with users on annotating their observation data</a:t>
            </a:r>
          </a:p>
          <a:p>
            <a:pPr lvl="0"/>
            <a:r>
              <a:rPr/>
              <a:t>CSVW is a standard of W3C to annotate CSV columns so the data can be converted to a knowledge graph</a:t>
            </a:r>
          </a:p>
          <a:p>
            <a:pPr lvl="0"/>
            <a:r>
              <a:rPr/>
              <a:t>Average soil scientiests experience the CSVW syntax as complex, we’re setting up tools to facilitate the conversion</a:t>
            </a:r>
          </a:p>
          <a:p>
            <a:pPr lvl="0"/>
            <a:r>
              <a:rPr/>
              <a:t>Other tools convert the Knowledge Graph data to GeoPackage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Limited metadata model in popular repositories such as Dataverse.nl, Zenodo.org, Pangea.de</a:t>
            </a:r>
          </a:p>
          <a:p>
            <a:pPr lvl="0"/>
            <a:r>
              <a:rPr/>
              <a:t>How to use sidecar metadata when publishing data in repositories</a:t>
            </a:r>
          </a:p>
          <a:p>
            <a:pPr lvl="0"/>
            <a:r>
              <a:rPr/>
              <a:t>Commonly accepted vocabularies to reference observed soil properties and observation procedures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 / Comments?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(Meta)Data management at ISRIC - World Soil Information</dc:title>
  <dc:creator>Paul van Genuchten</dc:creator>
  <cp:keywords/>
  <dcterms:created xsi:type="dcterms:W3CDTF">2026-10-15T07:24:27Z</dcterms:created>
  <dcterms:modified xsi:type="dcterms:W3CDTF">2026-10-15T07:24:27Z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2026-03-24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Discovery &amp; Metadata Expert Group with the Digital Research Alliance of Canada</vt:lpwstr>
  </property>
  <property fmtid="{D5CDD505-2E9C-101B-9397-08002B2CF9AE}" pid="11" name="toc-title">
    <vt:lpwstr>Table of contents</vt:lpwstr>
  </property>
</Properties>
</file>