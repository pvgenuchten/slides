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webp" ContentType="image/webp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1" Type="http://schemas.openxmlformats.org/officeDocument/2006/relationships/viewProps" Target="viewProps.xml" /><Relationship Id="rId4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3" Type="http://schemas.openxmlformats.org/officeDocument/2006/relationships/tableStyles" Target="tableStyles.xml" /><Relationship Id="rId4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hyperlink" Target="https://tinker.nl/en/work/world-soil-museum" TargetMode="External" /><Relationship Id="rId2" Type="http://schemas.openxmlformats.org/officeDocument/2006/relationships/image" Target="../media/image1.webp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go-fair.org/fair-principles/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tasetsearch.research.google.com/search?src=0&amp;query=soil%20data%20carbon%20content%20zimbabwe" TargetMode="Externa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explore.openaire.eu/" TargetMode="External" /><Relationship Id="rId3" Type="http://schemas.openxmlformats.org/officeDocument/2006/relationships/hyperlink" Target="https://datasetsearch.research.google.com/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fao.org/global-soil-partnership/glosolan/en/" TargetMode="External" /><Relationship Id="rId3" Type="http://schemas.openxmlformats.org/officeDocument/2006/relationships/hyperlink" Target="https://doi.org/10.5281/zenodo.20814311" TargetMode="Externa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5281/zenodo.17699297" TargetMode="External" /><Relationship Id="rId3" Type="http://schemas.openxmlformats.org/officeDocument/2006/relationships/hyperlink" Target="https://doi.org/10.17605/OSF.IO/4NGAU" TargetMode="External" /><Relationship Id="rId4" Type="http://schemas.openxmlformats.org/officeDocument/2006/relationships/hyperlink" Target="https://github.com/KALRO-ICT/kensis-data/tree/main/data" TargetMode="Externa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fairprocessframework.org/" TargetMode="External" /><Relationship Id="rId3" Type="http://schemas.openxmlformats.org/officeDocument/2006/relationships/hyperlink" Target="https://resources.isric.org/sis-framework/" TargetMode="External" /><Relationship Id="rId4" Type="http://schemas.openxmlformats.org/officeDocument/2006/relationships/hyperlink" Target="https://resources.isric.org/sis-framework/case-studies.html" TargetMode="Externa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Interoperability and data governance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Soil information systems for decision making in Africa</a:t>
            </a:r>
            <a:br/>
            <a:br/>
            <a:r>
              <a:rPr/>
              <a:t>Paul van Genuchten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2026-08-05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ISRIC - World Soil Information has been founded in 1966 after designation to the Netherlands by Unesco, in close cooperation with FAO and IUSS</a:t>
            </a:r>
          </a:p>
          <a:p>
            <a:pPr lvl="0"/>
            <a:r>
              <a:rPr/>
              <a:t>The institute with its unique global soil monolith collection is hosted at Wageningen University</a:t>
            </a:r>
          </a:p>
          <a:p>
            <a:pPr lvl="0"/>
            <a:r>
              <a:rPr/>
              <a:t>ISRIC contributes to data collection and standardization efforts globally, with a special focus on Africa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World Soil Museum</a:t>
            </a:r>
          </a:p>
        </p:txBody>
      </p:sp>
      <p:pic>
        <p:nvPicPr>
          <p:cNvPr descr="https://tinker.nl/img/cache/media_6828_widen_3840-upscale_90-2349_world-soil-museum01_0.webp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00300" y="1193800"/>
            <a:ext cx="4330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World Soil Museum by </a:t>
            </a:r>
            <a:r>
              <a:rPr>
                <a:hlinkClick r:id="rId3"/>
              </a:rPr>
              <a:t>tinker.nl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Collection of reference profiles</a:t>
            </a:r>
          </a:p>
        </p:txBody>
      </p:sp>
      <p:pic>
        <p:nvPicPr>
          <p:cNvPr descr="https://isric.euwest01.umbraco.io/media/dpbdg2ib/color-pot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25700" y="1193800"/>
            <a:ext cx="4279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Samples of reference profiles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Interoperability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participated in the Global Soil Map project (2009-2013)</a:t>
            </a:r>
          </a:p>
          <a:p>
            <a:pPr lvl="0"/>
            <a:r>
              <a:rPr/>
              <a:t>participated in the Africa Soil Information Service project (2009-2016)</a:t>
            </a:r>
          </a:p>
          <a:p>
            <a:pPr lvl="0"/>
            <a:r>
              <a:rPr/>
              <a:t>hosted the recent Soils for Africa project (2021-2025)</a:t>
            </a:r>
          </a:p>
          <a:p>
            <a:pPr lvl="0"/>
            <a:r>
              <a:rPr/>
              <a:t>contributes to the African Soil Observatory project (2025-2029)</a:t>
            </a:r>
          </a:p>
          <a:p>
            <a:pPr lvl="0"/>
            <a:r>
              <a:rPr/>
              <a:t>hosts the WOSIS profiles database and the SoilGrids Global Soil Map (250m)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Paul van Genuchten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Trained as a soil scientist (Wageningen University, 1999)</a:t>
            </a:r>
          </a:p>
          <a:p>
            <a:pPr lvl="0"/>
            <a:r>
              <a:rPr/>
              <a:t>Extensive experience in spatial data and IT</a:t>
            </a:r>
          </a:p>
          <a:p>
            <a:pPr lvl="0"/>
            <a:r>
              <a:rPr/>
              <a:t>Joined ISRIC four years ago as a Data Infrastructure Specialist</a:t>
            </a:r>
          </a:p>
          <a:p>
            <a:pPr lvl="0"/>
            <a:r>
              <a:rPr/>
              <a:t>Team maintains ISRIC’s data infrastructure</a:t>
            </a:r>
          </a:p>
          <a:p>
            <a:pPr lvl="0"/>
            <a:r>
              <a:rPr/>
              <a:t>contributes to soil data management projects, with a focus on metadata and interoperability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Interoperability and data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 was asked to present about these 2 topics</a:t>
            </a:r>
          </a:p>
          <a:p>
            <a:pPr lvl="0"/>
            <a:r>
              <a:rPr/>
              <a:t>Both are large topics…</a:t>
            </a:r>
          </a:p>
          <a:p>
            <a:pPr lvl="0"/>
            <a:r>
              <a:rPr/>
              <a:t>Interoperability is a pillar of data governance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Roles, Responsibilities, and Accountability</a:t>
            </a:r>
          </a:p>
          <a:p>
            <a:pPr lvl="0"/>
            <a:r>
              <a:rPr/>
              <a:t>Data Quality and Lifecycle Management</a:t>
            </a:r>
          </a:p>
          <a:p>
            <a:pPr lvl="0"/>
            <a:r>
              <a:rPr/>
              <a:t>Policies, Standards, and Interoperability</a:t>
            </a:r>
          </a:p>
          <a:p>
            <a:pPr lvl="0"/>
            <a:r>
              <a:rPr/>
              <a:t>Security, Privacy, and Legal Compliance</a:t>
            </a:r>
          </a:p>
          <a:p>
            <a:pPr lvl="0"/>
            <a:r>
              <a:rPr/>
              <a:t>Data Sharing, Access, and Value Creation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Soil data specifics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Interaction with many other domains (agriculture, pollution, carbon sequestration, build environment, hydrology)</a:t>
            </a:r>
          </a:p>
          <a:p>
            <a:pPr lvl="0"/>
            <a:r>
              <a:rPr/>
              <a:t>Property distribution data is predicted, not observed</a:t>
            </a:r>
          </a:p>
          <a:p>
            <a:pPr lvl="0"/>
            <a:r>
              <a:rPr/>
              <a:t>Long history of (local) practices and standardisation efforts</a:t>
            </a:r>
          </a:p>
          <a:p>
            <a:pPr lvl="0"/>
            <a:r>
              <a:rPr/>
              <a:t>Legacy data and formats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FAIR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hlinkClick r:id="rId2"/>
              </a:rPr>
              <a:t>FAIR principles</a:t>
            </a:r>
            <a:r>
              <a:rPr/>
              <a:t> provide a governance framework for data, from a reuse perspective:</a:t>
            </a:r>
          </a:p>
          <a:p>
            <a:pPr lvl="0"/>
            <a:r>
              <a:rPr/>
              <a:t>Findable</a:t>
            </a:r>
          </a:p>
          <a:p>
            <a:pPr lvl="0"/>
            <a:r>
              <a:rPr/>
              <a:t>Accessible</a:t>
            </a:r>
          </a:p>
          <a:p>
            <a:pPr lvl="0"/>
            <a:r>
              <a:rPr/>
              <a:t>Interoperable</a:t>
            </a:r>
          </a:p>
          <a:p>
            <a:pPr lvl="0"/>
            <a:r>
              <a:rPr/>
              <a:t>Reusable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Findable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Rich metadata searchable via a catalogue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Let’s try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 dataset?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civil cervant: a database which is continuously updated, exposed via an API</a:t>
            </a:r>
          </a:p>
          <a:p>
            <a:pPr lvl="0"/>
            <a:r>
              <a:rPr/>
              <a:t>academic: a validated collection of records at a given point in time, which I can reference from my publication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Datasets as a source for digital soil mapping (DSM)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DSM is the process of prediction of soil property distribution in space and time</a:t>
            </a:r>
          </a:p>
          <a:p>
            <a:pPr lvl="0"/>
            <a:r>
              <a:rPr/>
              <a:t>DSM efforts happen irragularly, based on latest snapshots of source data and covariates</a:t>
            </a:r>
          </a:p>
          <a:p>
            <a:pPr lvl="0"/>
            <a:r>
              <a:rPr/>
              <a:t>Data from the own organisation as well as remote sources</a:t>
            </a:r>
          </a:p>
          <a:p>
            <a:pPr lvl="0"/>
            <a:r>
              <a:rPr/>
              <a:t>The academic view on dataset is more appropriate for DSM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of repositories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Easy to find and reference</a:t>
            </a:r>
          </a:p>
          <a:p>
            <a:pPr lvl="0"/>
            <a:r>
              <a:rPr/>
              <a:t>Find today, find in 10 years time</a:t>
            </a:r>
          </a:p>
          <a:p>
            <a:pPr lvl="0"/>
            <a:r>
              <a:rPr/>
              <a:t>Common data and knowledge repositories offer persitent storage over time</a:t>
            </a:r>
          </a:p>
          <a:p>
            <a:pPr lvl="0"/>
            <a:r>
              <a:rPr/>
              <a:t>Aggregators (</a:t>
            </a:r>
            <a:r>
              <a:rPr>
                <a:hlinkClick r:id="rId2"/>
              </a:rPr>
              <a:t>openaire</a:t>
            </a:r>
            <a:r>
              <a:rPr/>
              <a:t>, </a:t>
            </a:r>
            <a:r>
              <a:rPr>
                <a:hlinkClick r:id="rId3"/>
              </a:rPr>
              <a:t>google</a:t>
            </a:r>
            <a:r>
              <a:rPr/>
              <a:t>) harvest from repositories to optimize findability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Persistent Identification is an aspect of findability (identifiers)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Datasets should be uniquely identified (uuid)</a:t>
            </a:r>
          </a:p>
          <a:p>
            <a:pPr lvl="0"/>
            <a:r>
              <a:rPr/>
              <a:t>Strong push to adopt identification platforms such as DOI and Handle.net</a:t>
            </a:r>
          </a:p>
          <a:p>
            <a:pPr lvl="0"/>
            <a:r>
              <a:rPr/>
              <a:t>Proper identification facilitates citation from reports/scientific articles</a:t>
            </a:r>
          </a:p>
          <a:p>
            <a:pPr lvl="0"/>
            <a:r>
              <a:rPr/>
              <a:t>For large data, or specific use cases (map vizualisation), data can also be shared using an api or web service, but it complicates identification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Accessible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is made available through an open protocol (http)</a:t>
            </a:r>
          </a:p>
          <a:p>
            <a:pPr lvl="0"/>
            <a:r>
              <a:rPr/>
              <a:t>Metadata should still exist, even if the data itself is no longer available</a:t>
            </a:r>
          </a:p>
          <a:p>
            <a:pPr lvl="0"/>
            <a:r>
              <a:rPr/>
              <a:t>Metadata Public; Data public, protected or internal</a:t>
            </a:r>
          </a:p>
          <a:p>
            <a:pPr lvl="0"/>
            <a:r>
              <a:rPr/>
              <a:t>Use an Open Format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Tiered access and national stewardship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As open as possible, as closed as necessary</a:t>
            </a:r>
          </a:p>
          <a:p>
            <a:pPr lvl="0"/>
            <a:r>
              <a:rPr/>
              <a:t>As data steward you should have control on access to the data, even when handed over to a secondary hosting provider (repository)</a:t>
            </a:r>
          </a:p>
          <a:p>
            <a:pPr lvl="0"/>
            <a:r>
              <a:rPr/>
              <a:t>Alternatively author the DOI of the data, arbitrary where the data is hosted</a:t>
            </a:r>
          </a:p>
          <a:p>
            <a:pPr lvl="0"/>
            <a:r>
              <a:rPr/>
              <a:t>Ultimately the enclosed metadata indicates the usage restrictions of the data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Interoperable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standardized data formats and controlled vocabularies to enable data exchange and reuse across tools and disciplines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Process of standardisation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If you standardise upfront, you don’t need to harmonize later</a:t>
            </a:r>
          </a:p>
          <a:p>
            <a:pPr lvl="0"/>
            <a:r>
              <a:rPr/>
              <a:t>Standardised Operating procedure (Field and Laboratory)</a:t>
            </a:r>
          </a:p>
          <a:p>
            <a:pPr lvl="1"/>
            <a:r>
              <a:rPr>
                <a:hlinkClick r:id="rId2"/>
              </a:rPr>
              <a:t>GSP Glosolan</a:t>
            </a:r>
          </a:p>
          <a:p>
            <a:pPr lvl="1"/>
            <a:r>
              <a:rPr>
                <a:hlinkClick r:id="rId3"/>
              </a:rPr>
              <a:t>Soils for Africa project</a:t>
            </a:r>
          </a:p>
          <a:p>
            <a:pPr lvl="0"/>
            <a:r>
              <a:rPr/>
              <a:t>Describe the procedure used to collect or process the data</a:t>
            </a:r>
          </a:p>
          <a:p>
            <a:pPr lvl="0"/>
            <a:r>
              <a:rPr/>
              <a:t>Refer to common vocabularies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Tabular annotated</a:t>
            </a:r>
          </a:p>
        </p:txBody>
      </p:sp>
      <p:pic>
        <p:nvPicPr>
          <p:cNvPr descr="./img/tabbular_annotate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55800" y="1193800"/>
            <a:ext cx="5219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interoperable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Role of common vocabularies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use of common multi-lingual vocabularies provide a mechanism to describe data using universal definitions</a:t>
            </a:r>
          </a:p>
          <a:p>
            <a:pPr lvl="0"/>
            <a:r>
              <a:rPr/>
              <a:t>Common vocabularies such as Agrovoc, WRB, GLOSIS, ISO11074, GEMET</a:t>
            </a:r>
          </a:p>
          <a:p>
            <a:pPr lvl="0"/>
            <a:r>
              <a:rPr/>
              <a:t>Use Agrovoc terms as keywords in metadata</a:t>
            </a:r>
          </a:p>
          <a:p>
            <a:pPr lvl="0"/>
            <a:r>
              <a:rPr/>
              <a:t>Describe columns in a dataset using terms from GLOSIS</a:t>
            </a:r>
          </a:p>
          <a:p>
            <a:pPr lvl="0"/>
            <a:r>
              <a:rPr/>
              <a:t>Express unit of measure using QUDT concepts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Reusable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Describe the provenance of the data, so potential users understand if and how they can use the data.</a:t>
            </a:r>
          </a:p>
          <a:p>
            <a:pPr lvl="0"/>
            <a:r>
              <a:rPr/>
              <a:t>Apply a relevant license; as open as possible, as closed as necessary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Describe a dataset using rich metadata for findability and resuability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Generic properties are covered in most metadata models</a:t>
            </a:r>
          </a:p>
          <a:p>
            <a:pPr lvl="0"/>
            <a:r>
              <a:rPr/>
              <a:t>Metadata model can be extended by adding a metadata sidecar file (RO-Crate approach)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of common repositories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Common repositories, such as Zenodo, OSF, Pangaea, Dataverse, offer many of the FAIR principles by default</a:t>
            </a:r>
          </a:p>
          <a:p>
            <a:pPr lvl="0"/>
            <a:r>
              <a:rPr/>
              <a:t>As a contributor you are owner of the data</a:t>
            </a:r>
          </a:p>
          <a:p>
            <a:pPr lvl="0"/>
            <a:r>
              <a:rPr/>
              <a:t>Data can be published with tiered access</a:t>
            </a:r>
          </a:p>
          <a:p>
            <a:pPr lvl="0"/>
            <a:r>
              <a:rPr/>
              <a:t>Funders may endorse the use of a certain repository</a:t>
            </a:r>
          </a:p>
          <a:p>
            <a:pPr lvl="0"/>
            <a:r>
              <a:rPr/>
              <a:t>Understand the jurisdiction of the country where the repository is hosted</a:t>
            </a:r>
          </a:p>
          <a:p>
            <a:pPr lvl="0"/>
            <a:r>
              <a:rPr/>
              <a:t>Consider the reliability of the repository (timespan 20-50 years)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data publication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Soils for Africa</a:t>
            </a:r>
          </a:p>
          <a:p>
            <a:pPr lvl="0"/>
            <a:r>
              <a:rPr>
                <a:hlinkClick r:id="rId3"/>
              </a:rPr>
              <a:t>Tanzania SIS</a:t>
            </a:r>
          </a:p>
          <a:p>
            <a:pPr lvl="0"/>
            <a:r>
              <a:rPr>
                <a:hlinkClick r:id="rId4"/>
              </a:rPr>
              <a:t>Kenya SIS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aggregators are not a good fit for publishing your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Various soil data aggregators exist, which harmonize and clean soil data</a:t>
            </a:r>
          </a:p>
          <a:p>
            <a:pPr lvl="0"/>
            <a:r>
              <a:rPr/>
              <a:t>Examples such as ISRIC, ISDA, Varda</a:t>
            </a:r>
          </a:p>
          <a:p>
            <a:pPr lvl="0"/>
            <a:r>
              <a:rPr/>
              <a:t>The aggregators are able to make good soil maps</a:t>
            </a:r>
          </a:p>
          <a:p>
            <a:pPr lvl="0"/>
            <a:r>
              <a:rPr/>
              <a:t>Data contributed to an aggregator is out of your control</a:t>
            </a:r>
          </a:p>
          <a:p>
            <a:pPr lvl="0"/>
            <a:r>
              <a:rPr/>
              <a:t>Instead publish the data in a repository and share the DOI with the aggregator</a:t>
            </a:r>
          </a:p>
          <a:p>
            <a:pPr lvl="0"/>
            <a:r>
              <a:rPr/>
              <a:t>The feedback from the aggregator about your data is actually very useful, make sure to retrieve it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Frameworks to support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Cabi and Gates foundation prepared a </a:t>
            </a:r>
            <a:r>
              <a:rPr>
                <a:hlinkClick r:id="rId2"/>
              </a:rPr>
              <a:t>framework to put the FAIR principles in action</a:t>
            </a:r>
            <a:r>
              <a:rPr/>
              <a:t> in the environmental domain.</a:t>
            </a:r>
          </a:p>
          <a:p>
            <a:pPr lvl="0"/>
            <a:r>
              <a:rPr/>
              <a:t>Cabi, ISRIC and Gates foundation also prepared a </a:t>
            </a:r>
            <a:r>
              <a:rPr>
                <a:hlinkClick r:id="rId3"/>
              </a:rPr>
              <a:t>framework for Soil Information System design</a:t>
            </a:r>
            <a:r>
              <a:rPr/>
              <a:t>.</a:t>
            </a:r>
          </a:p>
          <a:p>
            <a:pPr lvl="0"/>
            <a:r>
              <a:rPr/>
              <a:t>The SIS framwork includes some </a:t>
            </a:r>
            <a:r>
              <a:rPr>
                <a:hlinkClick r:id="rId4"/>
              </a:rPr>
              <a:t>case studies</a:t>
            </a:r>
            <a:r>
              <a:rPr/>
              <a:t> from various African countries.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governance is a wide topic, interoperability is an important pillar</a:t>
            </a:r>
          </a:p>
          <a:p>
            <a:pPr lvl="0"/>
            <a:r>
              <a:rPr/>
              <a:t>FAIR principles provide a framework for governance focussed on reuse</a:t>
            </a:r>
          </a:p>
          <a:p>
            <a:pPr lvl="0"/>
            <a:r>
              <a:rPr/>
              <a:t>Soil data is special for its specific use cases, interaction with many domains and long time span</a:t>
            </a:r>
          </a:p>
          <a:p>
            <a:pPr lvl="0"/>
            <a:r>
              <a:rPr/>
              <a:t>Harmonization is important, but do not replace the source data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Else I thank you very much for your interest. I hope I have been able to trigger some ideas. Let’s continue the conversation soon.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More details on data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extra slides provide some details on the topic of data governance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Roles, Responsibilities, and Accountability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Define who owns, stewards, custodians, and uses data.</a:t>
            </a:r>
          </a:p>
          <a:p>
            <a:pPr lvl="0"/>
            <a:r>
              <a:rPr/>
              <a:t>Establish decision-making bodies (e.g. data governance boards).</a:t>
            </a:r>
          </a:p>
          <a:p>
            <a:pPr lvl="0"/>
            <a:r>
              <a:rPr/>
              <a:t>Clarify responsibilities across ministries, agencies, and local governments.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Quality and Lifecycle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Ensure data is accurate, complete, consistent, timely, and fit for purpose.</a:t>
            </a:r>
          </a:p>
          <a:p>
            <a:pPr lvl="0"/>
            <a:r>
              <a:rPr/>
              <a:t>Define standards for data collection, validation, maintenance, archival, and disposal.</a:t>
            </a:r>
          </a:p>
          <a:p>
            <a:pPr lvl="0"/>
            <a:r>
              <a:rPr/>
              <a:t>Monitor and improve data quality through metrics and audits.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Policies, Standards, and Interoperability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Develop common data standards, metadata, reference data, and vocabularies.</a:t>
            </a:r>
          </a:p>
          <a:p>
            <a:pPr lvl="0"/>
            <a:r>
              <a:rPr/>
              <a:t>Promote interoperability between government systems.</a:t>
            </a:r>
          </a:p>
          <a:p>
            <a:pPr lvl="0"/>
            <a:r>
              <a:rPr/>
              <a:t>Standardize formats, identifiers, APIs, and data models to enable data sharing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Security, Privacy, and Legal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Protect sensitive and personal information.</a:t>
            </a:r>
          </a:p>
          <a:p>
            <a:pPr lvl="0"/>
            <a:r>
              <a:rPr/>
              <a:t>Comply with relevant legislation (e.g. GDPR, freedom of information laws, records management requirements).</a:t>
            </a:r>
          </a:p>
          <a:p>
            <a:pPr lvl="0"/>
            <a:r>
              <a:rPr/>
              <a:t>Define access controls, classification schemes, and procedures for handling breaches.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Tiered access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 of access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General public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Aggregated statistics, maps, open datasets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Researchers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Detailed but anonymized observations under a data-sharing agreement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Government agencies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datasets needed for regulatory or policy purposes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stewards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Ability to edit, correct, and approve records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System administrators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Technical access to the platform, but not necessarily permission to use the data analytically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Tiered access supports governance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Privacy and confidentiality: Protects personal, commercially sensitive, or nationally sensitive information.</a:t>
            </a:r>
          </a:p>
          <a:p>
            <a:pPr lvl="0"/>
            <a:r>
              <a:rPr/>
              <a:t>Legal compliance: Helps meet obligations under regulations such as GDPR, freedom of information laws, or sector-specific legislation.</a:t>
            </a:r>
          </a:p>
          <a:p>
            <a:pPr lvl="0"/>
            <a:r>
              <a:rPr/>
              <a:t>Data integrity: Limits editing rights to authorized users, reducing the risk of accidental or unauthorized changes.</a:t>
            </a:r>
          </a:p>
          <a:p>
            <a:pPr lvl="0"/>
            <a:r>
              <a:rPr/>
              <a:t>Need-to-know principle: Users receive only the information necessary for their role.</a:t>
            </a:r>
          </a:p>
          <a:p>
            <a:pPr lvl="0"/>
            <a:r>
              <a:rPr/>
              <a:t>Encouraging openness: Governments can publish as much data as possible while still protecting restricted information.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Sharing, Access, and Value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Establish policies and agreements for sharing data within government and with external stakeholders.</a:t>
            </a:r>
          </a:p>
          <a:p>
            <a:pPr lvl="0"/>
            <a:r>
              <a:rPr/>
              <a:t>Balance openness with confidentiality through open data, licensing, and access controls.</a:t>
            </a:r>
          </a:p>
          <a:p>
            <a:pPr lvl="0"/>
            <a:r>
              <a:rPr/>
              <a:t>Promote reuse of data for evidence-based policymaking, service delivery, transparency, and research.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five aspects are often supported by cross-cutting activities such as: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Metadata management</a:t>
            </a:r>
          </a:p>
          <a:p>
            <a:pPr lvl="0"/>
            <a:r>
              <a:rPr/>
              <a:t>Master and reference data management</a:t>
            </a:r>
          </a:p>
          <a:p>
            <a:pPr lvl="0"/>
            <a:r>
              <a:rPr/>
              <a:t>Risk management</a:t>
            </a:r>
          </a:p>
          <a:p>
            <a:pPr lvl="0"/>
            <a:r>
              <a:rPr/>
              <a:t>Training and capacity building</a:t>
            </a:r>
          </a:p>
          <a:p>
            <a:pPr lvl="0"/>
            <a:r>
              <a:rPr/>
              <a:t>Monitoring, compliance, and continuous improvement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Interoperability and data governance</dc:title>
  <dc:creator>Paul van Genuchten</dc:creator>
  <cp:keywords/>
  <dcterms:created xsi:type="dcterms:W3CDTF">2026-10-14T15:23:07Z</dcterms:created>
  <dcterms:modified xsi:type="dcterms:W3CDTF">2026-10-14T15:23:07Z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2026-08-05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Soil information systems for decision making in Africa</vt:lpwstr>
  </property>
  <property fmtid="{D5CDD505-2E9C-101B-9397-08002B2CF9AE}" pid="11" name="toc-title">
    <vt:lpwstr>Table of contents</vt:lpwstr>
  </property>
</Properties>
</file>